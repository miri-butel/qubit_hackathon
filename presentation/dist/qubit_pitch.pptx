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ipelin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95728"/>
            <a:ext cx="5669280" cy="1692004"/>
          </a:xfrm>
          <a:prstGeom prst="rect">
            <a:avLst/>
          </a:prstGeom>
        </p:spPr>
      </p:pic>
      <p:pic>
        <p:nvPicPr>
          <p:cNvPr id="3" name="Picture 2" descr="logo_qu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457200"/>
            <a:ext cx="228600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48" y="1481328"/>
            <a:ext cx="10966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82E0F0"/>
                </a:solidFill>
                <a:latin typeface="Arial"/>
              </a:rPr>
              <a:t>QUBIT HACKATHON 2026  ·  AT&amp;T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965960"/>
            <a:ext cx="52120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FFFFFF"/>
                </a:solidFill>
                <a:latin typeface="Arial"/>
              </a:rPr>
              <a:t>Routing AT&amp;T's backbone</a:t>
            </a:r>
          </a:p>
          <a:p>
            <a:pPr algn="l">
              <a:lnSpc>
                <a:spcPct val="106000"/>
              </a:lnSpc>
            </a:pPr>
            <a:r>
              <a:rPr sz="3800" b="1">
                <a:solidFill>
                  <a:srgbClr val="FFFFFF"/>
                </a:solidFill>
                <a:latin typeface="Arial"/>
              </a:rPr>
              <a:t>on 28 qubits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79476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CBD6E2"/>
                </a:solidFill>
                <a:latin typeface="Arial"/>
              </a:rPr>
              <a:t>Candidate-route encoding, Fortz–Thorup congestion cost,</a:t>
            </a:r>
          </a:p>
          <a:p>
            <a:pPr algn="l">
              <a:lnSpc>
                <a:spcPct val="130000"/>
              </a:lnSpc>
            </a:pPr>
            <a:r>
              <a:rPr sz="1450" b="0">
                <a:solidFill>
                  <a:srgbClr val="CBD6E2"/>
                </a:solidFill>
                <a:latin typeface="Arial"/>
              </a:rPr>
              <a:t>QAOA on Classiq — checked against exact ground truth.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709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6A8BA"/>
                </a:solidFill>
                <a:latin typeface="Arial"/>
              </a:rPr>
              <a:t>[ team · members ]</a:t>
            </a:r>
          </a:p>
        </p:txBody>
      </p:sp>
      <p:pic>
        <p:nvPicPr>
          <p:cNvPr id="8" name="Picture 7" descr="sponsors_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1448" y="6199632"/>
            <a:ext cx="7315200" cy="6515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84048"/>
            <a:ext cx="10966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82E0F0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76656"/>
            <a:ext cx="109663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Today's routing overloads AT&amp;T's real backbone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572768"/>
            <a:ext cx="10966399" cy="15544"/>
          </a:xfrm>
          <a:prstGeom prst="rect">
            <a:avLst/>
          </a:prstGeom>
          <a:solidFill>
            <a:srgbClr val="223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030407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6A8BA"/>
                </a:solidFill>
                <a:latin typeface="Arial"/>
              </a:rPr>
              <a:t>02</a:t>
            </a:r>
          </a:p>
        </p:txBody>
      </p:sp>
      <p:pic>
        <p:nvPicPr>
          <p:cNvPr id="6" name="Picture 5" descr="pipelin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513442"/>
            <a:ext cx="7360920" cy="21968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47888" y="1828800"/>
            <a:ext cx="333115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5A623"/>
                </a:solidFill>
                <a:latin typeface="Arial"/>
              </a:rPr>
              <a:t>105%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47888" y="2432304"/>
            <a:ext cx="33311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6A8BA"/>
                </a:solidFill>
                <a:latin typeface="Arial"/>
              </a:rPr>
              <a:t>peak link utilization under today's lowest-delay routing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7888" y="3127248"/>
            <a:ext cx="333115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5A623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3730752"/>
            <a:ext cx="33311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6A8BA"/>
                </a:solidFill>
                <a:latin typeface="Arial"/>
              </a:rPr>
              <a:t>link carrying more traffic than its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4425696"/>
            <a:ext cx="333115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5A623"/>
                </a:solidFill>
                <a:latin typeface="Arial"/>
              </a:rPr>
              <a:t>5.8×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5029200"/>
            <a:ext cx="33311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6A8BA"/>
                </a:solidFill>
                <a:latin typeface="Arial"/>
              </a:rPr>
              <a:t>Fortz–Thorup congestion cost Φ* against an uncongested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5623560"/>
            <a:ext cx="7360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96A8BA"/>
                </a:solidFill>
                <a:latin typeface="Arial"/>
              </a:rPr>
              <a:t>Real topology and geography from the Internet Topology Zoo's record of AT&amp;T's published OC-768 map. Latency derived from great-circle distance; capacity and traffic synthesized, method documented.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84048"/>
            <a:ext cx="10966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82E0F0"/>
                </a:solidFill>
                <a:latin typeface="Arial"/>
              </a:rPr>
              <a:t>ENCODING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76656"/>
            <a:ext cx="109663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28 qubits where the textbook encoding needs 504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572768"/>
            <a:ext cx="10966399" cy="15544"/>
          </a:xfrm>
          <a:prstGeom prst="rect">
            <a:avLst/>
          </a:prstGeom>
          <a:solidFill>
            <a:srgbClr val="223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030407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6A8BA"/>
                </a:solidFill>
                <a:latin typeface="Arial"/>
              </a:rPr>
              <a:t>03</a:t>
            </a:r>
          </a:p>
        </p:txBody>
      </p:sp>
      <p:pic>
        <p:nvPicPr>
          <p:cNvPr id="6" name="Picture 5" descr="encoding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797263"/>
            <a:ext cx="5577840" cy="39492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56248" y="1828800"/>
            <a:ext cx="50227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Classical enumeration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6248" y="2084832"/>
            <a:ext cx="50227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BD6E2"/>
                </a:solidFill>
                <a:latin typeface="Arial"/>
              </a:rPr>
              <a:t>Yen's algorithm across four metrics — delay, cost, hops, spare capacity — proposes a shortlist of link-disjoint routes per demand. Validated against networkx on 900 PoP pairs, zero mismatches.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6248" y="2852928"/>
            <a:ext cx="50227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Qubits track decisions, not wires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3108960"/>
            <a:ext cx="50227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BD6E2"/>
                </a:solidFill>
                <a:latin typeface="Arial"/>
              </a:rPr>
              <a:t>N = Σ|P_k| = demands × routes. It does not grow with the 36 directed links, so the same circuit width covers a much larger network.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3877056"/>
            <a:ext cx="50227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Penalty degree stays quadratic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4133088"/>
            <a:ext cx="50227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BD6E2"/>
                </a:solidFill>
                <a:latin typeface="Arial"/>
              </a:rPr>
              <a:t>The demand-edge encoding needs a degree-D capacity penalty (cubic at three demands) and per-node flow conservation. One-hot over routes needs neither.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4901184"/>
            <a:ext cx="50227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The trade, stated plainly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5157216"/>
            <a:ext cx="50227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BD6E2"/>
                </a:solidFill>
                <a:latin typeface="Arial"/>
              </a:rPr>
              <a:t>Solution quality is capped by the candidate sets. That is the hybrid split we chose deliberately.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84048"/>
            <a:ext cx="10966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82E0F0"/>
                </a:solidFill>
                <a:latin typeface="Arial"/>
              </a:rPr>
              <a:t>THE FORMULATION PROBLEM WE HAD TO SOLVE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76656"/>
            <a:ext cx="109663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Fitting Fortz–Thorup per link keeps the capacity cliff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572768"/>
            <a:ext cx="10966399" cy="15544"/>
          </a:xfrm>
          <a:prstGeom prst="rect">
            <a:avLst/>
          </a:prstGeom>
          <a:solidFill>
            <a:srgbClr val="223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030407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6A8BA"/>
                </a:solidFill>
                <a:latin typeface="Arial"/>
              </a:rPr>
              <a:t>04</a:t>
            </a:r>
          </a:p>
        </p:txBody>
      </p:sp>
      <p:pic>
        <p:nvPicPr>
          <p:cNvPr id="6" name="Picture 5" descr="ft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33472"/>
            <a:ext cx="5669280" cy="40140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47688" y="1828800"/>
            <a:ext cx="4931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Capacity is a cliff, not a slope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7688" y="2084832"/>
            <a:ext cx="4931359" cy="102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BD6E2"/>
                </a:solidFill>
                <a:latin typeface="Arial"/>
              </a:rPr>
              <a:t>Fortz &amp; Thorup's cost per link steps through slopes 1, 3, 10, 70, 500, 5000. Below a third of capacity it is nearly free; past capacity it is catastrophic.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7688" y="3127248"/>
            <a:ext cx="4931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One global quadratic flattens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7688" y="3383280"/>
            <a:ext cx="4931359" cy="102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BD6E2"/>
                </a:solidFill>
                <a:latin typeface="Arial"/>
              </a:rPr>
              <a:t>Fitted over all utilizations it becomes 16.7·u² — which minimizes total squared load, not peak load. On this instance its optimum leaves the hot link at 105% and never clears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7688" y="4425696"/>
            <a:ext cx="4931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Per-link local fits keep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4681728"/>
            <a:ext cx="4931359" cy="102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BD6E2"/>
                </a:solidFill>
                <a:latin typeface="Arial"/>
              </a:rPr>
              <a:t>H already carries a per-link linear term and u_e is linear in x, so fitting each link over the load band it can actually reach stays a QUBO — no slack qubits — and restores the cliff.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5760720"/>
            <a:ext cx="4931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6A8BA"/>
                </a:solidFill>
                <a:latin typeface="Arial"/>
              </a:rPr>
              <a:t>Bounds come from the candidate sets, never from a solution.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84048"/>
            <a:ext cx="10966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82E0F0"/>
                </a:solidFill>
                <a:latin typeface="Arial"/>
              </a:rPr>
              <a:t>THE RESULT ON THE REAL INSTANCE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76656"/>
            <a:ext cx="109663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105% → 90% peak, zero violations, on the real backbone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572768"/>
            <a:ext cx="10966399" cy="15544"/>
          </a:xfrm>
          <a:prstGeom prst="rect">
            <a:avLst/>
          </a:prstGeom>
          <a:solidFill>
            <a:srgbClr val="223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030407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6A8BA"/>
                </a:solidFill>
                <a:latin typeface="Arial"/>
              </a:rPr>
              <a:t>05</a:t>
            </a:r>
          </a:p>
        </p:txBody>
      </p:sp>
      <p:pic>
        <p:nvPicPr>
          <p:cNvPr id="6" name="Picture 5" descr="hero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560" y="1737360"/>
            <a:ext cx="9014573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" y="5440680"/>
            <a:ext cx="25587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82E0F0"/>
                </a:solidFill>
                <a:latin typeface="Arial"/>
              </a:rPr>
              <a:t>105% → 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897880"/>
            <a:ext cx="25587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6A8BA"/>
                </a:solidFill>
                <a:latin typeface="Arial"/>
              </a:rPr>
              <a:t>peak utilization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4247" y="5440680"/>
            <a:ext cx="25587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82E0F0"/>
                </a:solidFill>
                <a:latin typeface="Arial"/>
              </a:rPr>
              <a:t>1 →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4247" y="5897880"/>
            <a:ext cx="25587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6A8BA"/>
                </a:solidFill>
                <a:latin typeface="Arial"/>
              </a:rPr>
              <a:t>links over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5440680"/>
            <a:ext cx="25587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82E0F0"/>
                </a:solidFill>
                <a:latin typeface="Arial"/>
              </a:rPr>
              <a:t>5.84 → 2.05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5897880"/>
            <a:ext cx="25587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6A8BA"/>
                </a:solidFill>
                <a:latin typeface="Arial"/>
              </a:rPr>
              <a:t>Fortz–Thorup Φ*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7447" y="5440680"/>
            <a:ext cx="25587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82E0F0"/>
                </a:solidFill>
                <a:latin typeface="Arial"/>
              </a:rPr>
              <a:t>16,384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7447" y="5897880"/>
            <a:ext cx="25587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6A8BA"/>
                </a:solidFill>
                <a:latin typeface="Arial"/>
              </a:rPr>
              <a:t>assignments searched exactly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355080"/>
            <a:ext cx="109663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6A8BA"/>
                </a:solidFill>
                <a:latin typeface="Arial"/>
              </a:rPr>
              <a:t>Same candidate routes, same exact solver — the gain comes from the objective, not from the quantum step.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84048"/>
            <a:ext cx="10966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82E0F0"/>
                </a:solidFill>
                <a:latin typeface="Arial"/>
              </a:rPr>
              <a:t>THE QUANTUM STEP, CHECKED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76656"/>
            <a:ext cx="109663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QAOA returns the optimum where we can verify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572768"/>
            <a:ext cx="10966399" cy="15544"/>
          </a:xfrm>
          <a:prstGeom prst="rect">
            <a:avLst/>
          </a:prstGeom>
          <a:solidFill>
            <a:srgbClr val="223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030407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6A8BA"/>
                </a:solidFill>
                <a:latin typeface="Arial"/>
              </a:rPr>
              <a:t>06</a:t>
            </a:r>
          </a:p>
        </p:txBody>
      </p:sp>
      <p:pic>
        <p:nvPicPr>
          <p:cNvPr id="6" name="Picture 5" descr="convergence_t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61" y="1828800"/>
            <a:ext cx="5534492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39128" y="1828800"/>
            <a:ext cx="48399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82E0F0"/>
                </a:solidFill>
                <a:latin typeface="Arial"/>
              </a:rPr>
              <a:t>57%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9128" y="2432304"/>
            <a:ext cx="48399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6A8BA"/>
                </a:solidFill>
                <a:latin typeface="Arial"/>
              </a:rPr>
              <a:t>of sampled probability lands on feasible states, against 5.3% for uniform sampling (11×)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9128" y="3246120"/>
            <a:ext cx="48399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82E0F0"/>
                </a:solidFill>
                <a:latin typeface="Arial"/>
              </a:rPr>
              <a:t>7e-08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9128" y="3849624"/>
            <a:ext cx="48399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6A8BA"/>
                </a:solidFill>
                <a:latin typeface="Arial"/>
              </a:rPr>
              <a:t>cost gap to the exhaustively verified optimum over all 27 assignments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9128" y="4663440"/>
            <a:ext cx="483991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96A8BA"/>
                </a:solidFill>
                <a:latin typeface="Arial"/>
              </a:rPr>
              <a:t>9 qubits · 3 layers · depth 101 · 144 two-qubit gates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96A8BA"/>
                </a:solidFill>
                <a:latin typeface="Arial"/>
              </a:rPr>
              <a:t>CVaR at q=0.5 (Barkoutsos et al.) · COBYLA · 2048 shots · seed 42 · Classiq simulator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852160"/>
            <a:ext cx="5760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96A8BA"/>
                </a:solidFill>
                <a:latin typeface="Arial"/>
              </a:rPr>
              <a:t>Deliberately small: nine qubits is where every quantum claim can be checked against exact ground truth. We claim no speedup.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84048"/>
            <a:ext cx="10966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82E0F0"/>
                </a:solidFill>
                <a:latin typeface="Arial"/>
              </a:rPr>
              <a:t>WHERE IT STOPS,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76656"/>
            <a:ext cx="109663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At 28 qubits the wall is feasibility, not the circuit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572768"/>
            <a:ext cx="10966399" cy="15544"/>
          </a:xfrm>
          <a:prstGeom prst="rect">
            <a:avLst/>
          </a:prstGeom>
          <a:solidFill>
            <a:srgbClr val="223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030407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6A8BA"/>
                </a:solidFill>
                <a:latin typeface="Aria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82880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The pipeline runs end to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084832"/>
            <a:ext cx="59436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BD6E2"/>
                </a:solidFill>
                <a:latin typeface="Arial"/>
              </a:rPr>
              <a:t>28 qubits synthesized on Classiq to depth 96 with 162 two-qubit gates, executed on the simulator. CVaR falls from 47.1 to 11.8, so the optimizer is learning.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15468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No feasible sample came 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410712"/>
            <a:ext cx="59436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BD6E2"/>
                </a:solidFill>
                <a:latin typeface="Arial"/>
              </a:rPr>
              <a:t>With 14 demands choosing between two routes, the one-hot subspace is 2^14 of 2^28 states — 0.006% of the Hilbert space. A depth-1 X mixer spreads amplitude across all of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448056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The fix is known, not hand-waving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4736592"/>
            <a:ext cx="59436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BD6E2"/>
                </a:solidFill>
                <a:latin typeface="Arial"/>
              </a:rPr>
              <a:t>An XY mixer confines evolution to the feasible subspace by construction; a binary encoding needs log2(K) qubits per demand, rounded up, and removes one-hot entirely. Both drop into one function of qaoa.py.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22008" y="1828800"/>
            <a:ext cx="4657039" cy="3200400"/>
          </a:xfrm>
          <a:prstGeom prst="rect">
            <a:avLst/>
          </a:prstGeom>
          <a:solidFill>
            <a:srgbClr val="0B1526"/>
          </a:solidFill>
          <a:ln w="12700">
            <a:solidFill>
              <a:srgbClr val="223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96328" y="2057400"/>
            <a:ext cx="4108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A623"/>
                </a:solidFill>
                <a:latin typeface="Arial"/>
              </a:rPr>
              <a:t>WHAT WE WILL NOT CLAIM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6328" y="2468880"/>
            <a:ext cx="410839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CBD6E2"/>
                </a:solidFill>
                <a:latin typeface="Arial"/>
              </a:rPr>
              <a:t>• A quantum speedup. At these sizes exact classical search wins, and we say so.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CBD6E2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CBD6E2"/>
                </a:solidFill>
                <a:latin typeface="Arial"/>
              </a:rPr>
              <a:t>• A quantum result on the 28-qubit instance. The clean routing there is classical, from exhaustive search over the same QUBO.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CBD6E2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CBD6E2"/>
                </a:solidFill>
                <a:latin typeface="Arial"/>
              </a:rPr>
              <a:t>• That the congestion win is quantum. It comes from the objective, solved by brute force.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5989320"/>
            <a:ext cx="109663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6A8BA"/>
                </a:solidFill>
                <a:latin typeface="Arial"/>
              </a:rPr>
              <a:t>Reporting the boundary is the point: it is what tells you which mixer to build next.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84048"/>
            <a:ext cx="10966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82E0F0"/>
                </a:solidFill>
                <a:latin typeface="Arial"/>
              </a:rPr>
              <a:t>HOW IT IS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76656"/>
            <a:ext cx="109663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One cost function: circuit, brute force, decoder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572768"/>
            <a:ext cx="10966399" cy="15544"/>
          </a:xfrm>
          <a:prstGeom prst="rect">
            <a:avLst/>
          </a:prstGeom>
          <a:solidFill>
            <a:srgbClr val="223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030407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6A8BA"/>
                </a:solidFill>
                <a:latin typeface="Arial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828800"/>
            <a:ext cx="5120640" cy="2286000"/>
          </a:xfrm>
          <a:prstGeom prst="rect">
            <a:avLst/>
          </a:prstGeom>
          <a:solidFill>
            <a:srgbClr val="0B1526"/>
          </a:solidFill>
          <a:ln w="12700">
            <a:solidFill>
              <a:srgbClr val="223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2048256"/>
            <a:ext cx="46634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7EFF8"/>
                </a:solidFill>
                <a:latin typeface="Arial"/>
              </a:rPr>
              <a:t>@qfunc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C7EFF8"/>
                </a:solidFill>
                <a:latin typeface="Arial"/>
              </a:rPr>
              <a:t>def main(params, x):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C7EFF8"/>
                </a:solidFill>
                <a:latin typeface="Arial"/>
              </a:rPr>
              <a:t>    allocate(x)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C7EFF8"/>
                </a:solidFill>
                <a:latin typeface="Arial"/>
              </a:rPr>
              <a:t>    hadamard_transform(x)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C7EFF8"/>
                </a:solidFill>
                <a:latin typeface="Arial"/>
              </a:rPr>
              <a:t>    repeat(num_layers, lambda i: (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C7EFF8"/>
                </a:solidFill>
                <a:latin typeface="Arial"/>
              </a:rPr>
              <a:t>        phase(cost_fn(x), params[2*i]),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C7EFF8"/>
                </a:solidFill>
                <a:latin typeface="Arial"/>
              </a:rPr>
              <a:t>        mixer_layer(params[2*i+1], x),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C7EFF8"/>
                </a:solidFill>
                <a:latin typeface="Arial"/>
              </a:rPr>
              <a:t>    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425196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CBD6E2"/>
                </a:solidFill>
                <a:latin typeface="Arial"/>
              </a:rPr>
              <a:t>Classiq's phase() compiles the same Python cost function that brute force minimizes and the decoder scores samples with — so the Hamiltonian and the classical objective cannot drift apart.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0488" y="1828800"/>
            <a:ext cx="5388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QAOA proposes, classical validation selects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0488" y="2084832"/>
            <a:ext cx="5388559" cy="102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BD6E2"/>
                </a:solidFill>
                <a:latin typeface="Arial"/>
              </a:rPr>
              <a:t>The decoder gates every sample on one-hot feasibility and capacity before any KPI comparison, then returns the best feasible routing. Nothing infeasible can leave the pipeline.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0488" y="3127248"/>
            <a:ext cx="5388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44 tests, one of them exhaustive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3383280"/>
            <a:ext cx="5388559" cy="102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BD6E2"/>
                </a:solidFill>
                <a:latin typeface="Arial"/>
              </a:rPr>
              <a:t>Including a bitstring-by-bitstring check of the cost polynomial against an independent implementation on a four-qubit instance.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4425696"/>
            <a:ext cx="5388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Only qaoa.py imports classiq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4681728"/>
            <a:ext cx="5388559" cy="102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BD6E2"/>
                </a:solidFill>
                <a:latin typeface="Arial"/>
              </a:rPr>
              <a:t>Model, QUBO, decoding and plotting stay pure Python, so the solver is swappable — MILP or QPU — without touching the formulation.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685800"/>
            <a:ext cx="10966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82E0F0"/>
                </a:solidFill>
                <a:latin typeface="Arial"/>
              </a:rPr>
              <a:t>THE ONE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143000"/>
            <a:ext cx="1096639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300" b="1">
                <a:solidFill>
                  <a:srgbClr val="FFFFFF"/>
                </a:solidFill>
                <a:latin typeface="Arial"/>
              </a:rPr>
              <a:t>We priced AT&amp;T's own congestion cost into 28 qubits —</a:t>
            </a:r>
          </a:p>
          <a:p>
            <a:pPr algn="l">
              <a:lnSpc>
                <a:spcPct val="118000"/>
              </a:lnSpc>
            </a:pPr>
            <a:r>
              <a:rPr sz="3300" b="1">
                <a:solidFill>
                  <a:srgbClr val="FFFFFF"/>
                </a:solidFill>
                <a:latin typeface="Arial"/>
              </a:rPr>
              <a:t>a textbook encoding needs 504 — and checked every</a:t>
            </a:r>
          </a:p>
          <a:p>
            <a:pPr algn="l">
              <a:lnSpc>
                <a:spcPct val="118000"/>
              </a:lnSpc>
            </a:pPr>
            <a:r>
              <a:rPr sz="3300" b="1">
                <a:solidFill>
                  <a:srgbClr val="FFFFFF"/>
                </a:solidFill>
                <a:latin typeface="Arial"/>
              </a:rPr>
              <a:t>answer against exact ground truth.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3794760"/>
            <a:ext cx="1927555" cy="457200"/>
          </a:xfrm>
          <a:prstGeom prst="rect">
            <a:avLst/>
          </a:prstGeom>
          <a:solidFill>
            <a:srgbClr val="0B1526"/>
          </a:solidFill>
          <a:ln w="12700">
            <a:solidFill>
              <a:srgbClr val="223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86384" y="3913632"/>
            <a:ext cx="1580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2E0F0"/>
                </a:solidFill>
                <a:latin typeface="Arial"/>
              </a:rPr>
              <a:t>28 vs 504 qubits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686507" y="3794760"/>
            <a:ext cx="1828800" cy="457200"/>
          </a:xfrm>
          <a:prstGeom prst="rect">
            <a:avLst/>
          </a:prstGeom>
          <a:solidFill>
            <a:srgbClr val="0B1526"/>
          </a:solidFill>
          <a:ln w="12700">
            <a:solidFill>
              <a:srgbClr val="223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860243" y="3913632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2E0F0"/>
                </a:solidFill>
                <a:latin typeface="Arial"/>
              </a:rPr>
              <a:t>peak 105% → 90%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1611" y="3794760"/>
            <a:ext cx="2816352" cy="457200"/>
          </a:xfrm>
          <a:prstGeom prst="rect">
            <a:avLst/>
          </a:prstGeom>
          <a:solidFill>
            <a:srgbClr val="0B1526"/>
          </a:solidFill>
          <a:ln w="12700">
            <a:solidFill>
              <a:srgbClr val="223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835347" y="391363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2E0F0"/>
                </a:solidFill>
                <a:latin typeface="Arial"/>
              </a:rPr>
              <a:t>1 → 0 links over capacity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4267" y="3794760"/>
            <a:ext cx="1532534" cy="457200"/>
          </a:xfrm>
          <a:prstGeom prst="rect">
            <a:avLst/>
          </a:prstGeom>
          <a:solidFill>
            <a:srgbClr val="0B1526"/>
          </a:solidFill>
          <a:ln w="12700">
            <a:solidFill>
              <a:srgbClr val="223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98003" y="3913632"/>
            <a:ext cx="118506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2E0F0"/>
                </a:solidFill>
                <a:latin typeface="Arial"/>
              </a:rPr>
              <a:t>Φ* 5.8 → 2.1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" y="4361688"/>
            <a:ext cx="3606393" cy="457200"/>
          </a:xfrm>
          <a:prstGeom prst="rect">
            <a:avLst/>
          </a:prstGeom>
          <a:solidFill>
            <a:srgbClr val="0B1526"/>
          </a:solidFill>
          <a:ln w="12700">
            <a:solidFill>
              <a:srgbClr val="223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86384" y="4480560"/>
            <a:ext cx="325892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2E0F0"/>
                </a:solidFill>
                <a:latin typeface="Arial"/>
              </a:rPr>
              <a:t>feasible mass 57% vs 5.3% uniform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5345" y="4361688"/>
            <a:ext cx="3211372" cy="457200"/>
          </a:xfrm>
          <a:prstGeom prst="rect">
            <a:avLst/>
          </a:prstGeom>
          <a:solidFill>
            <a:srgbClr val="0B1526"/>
          </a:solidFill>
          <a:ln w="12700">
            <a:solidFill>
              <a:srgbClr val="223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39081" y="4480560"/>
            <a:ext cx="2863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2E0F0"/>
                </a:solidFill>
                <a:latin typeface="Arial"/>
              </a:rPr>
              <a:t>0 gap to the verified optimum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3022" y="4361688"/>
            <a:ext cx="1137513" cy="457200"/>
          </a:xfrm>
          <a:prstGeom prst="rect">
            <a:avLst/>
          </a:prstGeom>
          <a:solidFill>
            <a:srgbClr val="0B1526"/>
          </a:solidFill>
          <a:ln w="12700">
            <a:solidFill>
              <a:srgbClr val="223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896758" y="4480560"/>
            <a:ext cx="7900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2E0F0"/>
                </a:solidFill>
                <a:latin typeface="Arial"/>
              </a:rPr>
              <a:t>44 tests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" y="5650992"/>
            <a:ext cx="10966399" cy="15544"/>
          </a:xfrm>
          <a:prstGeom prst="rect">
            <a:avLst/>
          </a:prstGeom>
          <a:solidFill>
            <a:srgbClr val="223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12648" y="5797296"/>
            <a:ext cx="109663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6A8BA"/>
                </a:solidFill>
                <a:latin typeface="Arial"/>
              </a:rPr>
              <a:t>Next:  XY mixer for feasible-subspace evolution  ·  MILP baseline  ·  Fortz–Thorup LP bound  ·  QPU run</a:t>
            </a:r>
          </a:p>
        </p:txBody>
      </p:sp>
      <p:pic>
        <p:nvPicPr>
          <p:cNvPr id="20" name="Picture 19" descr="logo_qu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1687" y="566928"/>
            <a:ext cx="1737360" cy="579120"/>
          </a:xfrm>
          <a:prstGeom prst="rect">
            <a:avLst/>
          </a:prstGeom>
        </p:spPr>
      </p:pic>
      <p:pic>
        <p:nvPicPr>
          <p:cNvPr id="21" name="Picture 20" descr="sponsors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528" y="6263640"/>
            <a:ext cx="6035040" cy="5375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834640"/>
            <a:ext cx="109663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25404E"/>
                </a:solidFill>
                <a:latin typeface="Arial"/>
              </a:rPr>
              <a:t>BACKUP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3931920"/>
            <a:ext cx="10966399" cy="15544"/>
          </a:xfrm>
          <a:prstGeom prst="rect">
            <a:avLst/>
          </a:prstGeom>
          <a:solidFill>
            <a:srgbClr val="223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2648" y="4114800"/>
            <a:ext cx="109663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6A8BA"/>
                </a:solidFill>
                <a:latin typeface="Arial"/>
              </a:rPr>
              <a:t>Everything that did not earn a place in five minutes.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84048"/>
            <a:ext cx="10966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82E0F0"/>
                </a:solidFill>
                <a:latin typeface="Arial"/>
              </a:rPr>
              <a:t>BACKUP · INSTANCE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76656"/>
            <a:ext cx="109663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An unroutable instance is a capacity result, not an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572768"/>
            <a:ext cx="10966399" cy="15544"/>
          </a:xfrm>
          <a:prstGeom prst="rect">
            <a:avLst/>
          </a:prstGeom>
          <a:solidFill>
            <a:srgbClr val="223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12648" y="192024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96A8BA"/>
                </a:solidFill>
                <a:latin typeface="Arial"/>
              </a:rPr>
              <a:t>INSTANCE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0008" y="192024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96A8BA"/>
                </a:solidFill>
                <a:latin typeface="Arial"/>
              </a:rPr>
              <a:t>DEMANDS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7287" y="192024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96A8BA"/>
                </a:solidFill>
                <a:latin typeface="Arial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58968" y="192024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96A8BA"/>
                </a:solidFill>
                <a:latin typeface="Arial"/>
              </a:rPr>
              <a:t>BEST ACHIEVABLE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53527" y="1920240"/>
            <a:ext cx="37947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96A8BA"/>
                </a:solidFill>
                <a:latin typeface="Arial"/>
              </a:rPr>
              <a:t>VERDICT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267712"/>
            <a:ext cx="10966399" cy="12801"/>
          </a:xfrm>
          <a:prstGeom prst="rect">
            <a:avLst/>
          </a:prstGeom>
          <a:solidFill>
            <a:srgbClr val="223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12648" y="2395728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BD6E2"/>
                </a:solidFill>
                <a:latin typeface="Arial"/>
              </a:rPr>
              <a:t>east10_dense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8" y="2395728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BD6E2"/>
                </a:solidFill>
                <a:latin typeface="Arial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7" y="2395728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BD6E2"/>
                </a:solidFill>
                <a:latin typeface="Arial"/>
              </a:rPr>
              <a:t>281% · 9 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8968" y="2395728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BD6E2"/>
                </a:solidFill>
                <a:latin typeface="Arial"/>
              </a:rPr>
              <a:t>506% · 6 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7" y="2395728"/>
            <a:ext cx="37947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BD6E2"/>
                </a:solidFill>
                <a:latin typeface="Arial"/>
              </a:rPr>
              <a:t>oversubscribed — no clean assignment exists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2962656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BD6E2"/>
                </a:solidFill>
                <a:latin typeface="Arial"/>
              </a:rPr>
              <a:t>east10_tuned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0008" y="2962656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BD6E2"/>
                </a:solidFill>
                <a:latin typeface="Arial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7" y="2962656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BD6E2"/>
                </a:solidFill>
                <a:latin typeface="Arial"/>
              </a:rPr>
              <a:t>105% · 1 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58968" y="2962656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BD6E2"/>
                </a:solidFill>
                <a:latin typeface="Arial"/>
              </a:rPr>
              <a:t>90% · 0 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3527" y="2962656"/>
            <a:ext cx="37947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BD6E2"/>
                </a:solidFill>
                <a:latin typeface="Arial"/>
              </a:rPr>
              <a:t>contested and solvable — 112 of 16,384 clean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114800"/>
            <a:ext cx="109663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CBD6E2"/>
                </a:solidFill>
                <a:latin typeface="Arial"/>
              </a:rPr>
              <a:t>`fill` caps each demand at a fraction of the widest bottleneck open to it. At 0.9 any two demands sharing a link overload it however they are routed; at 0.3 they compete instead, and the optimizer has something to win. Both instances are the same 10 real PoPs.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84048"/>
            <a:ext cx="10966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82E0F0"/>
                </a:solidFill>
                <a:latin typeface="Arial"/>
              </a:rPr>
              <a:t>BACKUP · THE VERIFIED INSTANCE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76656"/>
            <a:ext cx="109663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Nine qubits, three demands, every answer checkable by hand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572768"/>
            <a:ext cx="10966399" cy="15544"/>
          </a:xfrm>
          <a:prstGeom prst="rect">
            <a:avLst/>
          </a:prstGeom>
          <a:solidFill>
            <a:srgbClr val="223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to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854" y="1783080"/>
            <a:ext cx="6999985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" y="5852160"/>
            <a:ext cx="109663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6A8BA"/>
                </a:solidFill>
                <a:latin typeface="Arial"/>
              </a:rPr>
              <a:t>Both columns are decoded under one coefficient set and share a single utilization colour scale, so the panels are directly comparable. Priority π=3 on the premium demand is what makes it win the contested link.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