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0B1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pipeline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9320" y="2395728"/>
            <a:ext cx="5669280" cy="1692004"/>
          </a:xfrm>
          <a:prstGeom prst="rect">
            <a:avLst/>
          </a:prstGeom>
        </p:spPr>
      </p:pic>
      <p:pic>
        <p:nvPicPr>
          <p:cNvPr id="3" name="Picture 2" descr="logo_qubi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648" y="457200"/>
            <a:ext cx="2286000" cy="76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12648" y="1481328"/>
            <a:ext cx="109663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82E0F0"/>
                </a:solidFill>
                <a:latin typeface="Arial"/>
              </a:rPr>
              <a:t>QUBIT HACKATHON 2026  ·  AT&amp;T CHALLENGE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1965960"/>
            <a:ext cx="521208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3800" b="1">
                <a:solidFill>
                  <a:srgbClr val="FFFFFF"/>
                </a:solidFill>
                <a:latin typeface="Arial"/>
              </a:rPr>
              <a:t>Routing AT&amp;T's backbone</a:t>
            </a:r>
          </a:p>
          <a:p>
            <a:pPr algn="l">
              <a:lnSpc>
                <a:spcPct val="106000"/>
              </a:lnSpc>
            </a:pPr>
            <a:r>
              <a:rPr sz="3800" b="1">
                <a:solidFill>
                  <a:srgbClr val="FFFFFF"/>
                </a:solidFill>
                <a:latin typeface="Arial"/>
              </a:rPr>
              <a:t>on 28 qubits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2648" y="3794760"/>
            <a:ext cx="51206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50" b="0">
                <a:solidFill>
                  <a:srgbClr val="CBD6E2"/>
                </a:solidFill>
                <a:latin typeface="Arial"/>
              </a:rPr>
              <a:t>Candidate-route encoding, Fortz–Thorup congestion cost,</a:t>
            </a:r>
          </a:p>
          <a:p>
            <a:pPr algn="l">
              <a:lnSpc>
                <a:spcPct val="130000"/>
              </a:lnSpc>
            </a:pPr>
            <a:r>
              <a:rPr sz="1450" b="0">
                <a:solidFill>
                  <a:srgbClr val="CBD6E2"/>
                </a:solidFill>
                <a:latin typeface="Arial"/>
              </a:rPr>
              <a:t>QAOA on Classiq — checked against exact ground truth.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2648" y="47091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96A8BA"/>
                </a:solidFill>
                <a:latin typeface="Arial"/>
              </a:rPr>
              <a:t>[ team · members ]</a:t>
            </a:r>
          </a:p>
        </p:txBody>
      </p:sp>
      <p:pic>
        <p:nvPicPr>
          <p:cNvPr id="8" name="Picture 7" descr="sponsors_ro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41448" y="6199632"/>
            <a:ext cx="7315200" cy="65157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0B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384048"/>
            <a:ext cx="109663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82E0F0"/>
                </a:solidFill>
                <a:latin typeface="Arial"/>
              </a:rP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676656"/>
            <a:ext cx="1096639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>
                <a:solidFill>
                  <a:srgbClr val="FFFFFF"/>
                </a:solidFill>
                <a:latin typeface="Arial"/>
              </a:rPr>
              <a:t>Today's routing overloads AT&amp;T's real backbone</a:t>
            </a:r>
          </a:p>
        </p:txBody>
      </p:sp>
      <p:sp>
        <p:nvSpPr>
          <p:cNvPr id="4" name="Rectangle 3"/>
          <p:cNvSpPr/>
          <p:nvPr/>
        </p:nvSpPr>
        <p:spPr>
          <a:xfrm>
            <a:off x="612648" y="1572768"/>
            <a:ext cx="10966399" cy="15544"/>
          </a:xfrm>
          <a:prstGeom prst="rect">
            <a:avLst/>
          </a:prstGeom>
          <a:solidFill>
            <a:srgbClr val="223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11030407" y="638251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6A8BA"/>
                </a:solidFill>
                <a:latin typeface="Arial"/>
              </a:rPr>
              <a:t>02</a:t>
            </a:r>
          </a:p>
        </p:txBody>
      </p:sp>
      <p:pic>
        <p:nvPicPr>
          <p:cNvPr id="6" name="Picture 5" descr="pipeline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" y="2513442"/>
            <a:ext cx="7360920" cy="219687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47888" y="1828800"/>
            <a:ext cx="3331159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F5A623"/>
                </a:solidFill>
                <a:latin typeface="Arial"/>
              </a:rPr>
              <a:t>105%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47888" y="2432304"/>
            <a:ext cx="333115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96A8BA"/>
                </a:solidFill>
                <a:latin typeface="Arial"/>
              </a:rPr>
              <a:t>peak link utilization under today's lowest-delay routing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47888" y="3127248"/>
            <a:ext cx="3331159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F5A623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47888" y="3730752"/>
            <a:ext cx="333115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96A8BA"/>
                </a:solidFill>
                <a:latin typeface="Arial"/>
              </a:rPr>
              <a:t>link carrying more traffic than its capacity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47888" y="4425696"/>
            <a:ext cx="3331159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F5A623"/>
                </a:solidFill>
                <a:latin typeface="Arial"/>
              </a:rPr>
              <a:t>5.8×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47888" y="5029200"/>
            <a:ext cx="333115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96A8BA"/>
                </a:solidFill>
                <a:latin typeface="Arial"/>
              </a:rPr>
              <a:t>Fortz–Thorup congestion cost Φ* against an uncongested network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" y="5623560"/>
            <a:ext cx="73609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96A8BA"/>
                </a:solidFill>
                <a:latin typeface="Arial"/>
              </a:rPr>
              <a:t>Real topology and geography from the Internet Topology Zoo's record of AT&amp;T's published OC-768 map. Latency derived from great-circle distance; capacity and traffic synthesized, method documented.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0B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384048"/>
            <a:ext cx="109663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82E0F0"/>
                </a:solidFill>
                <a:latin typeface="Arial"/>
              </a:rPr>
              <a:t>ENCODING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676656"/>
            <a:ext cx="1096639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>
                <a:solidFill>
                  <a:srgbClr val="FFFFFF"/>
                </a:solidFill>
                <a:latin typeface="Arial"/>
              </a:rPr>
              <a:t>28 qubits where the textbook encoding needs 504</a:t>
            </a:r>
          </a:p>
        </p:txBody>
      </p:sp>
      <p:sp>
        <p:nvSpPr>
          <p:cNvPr id="4" name="Rectangle 3"/>
          <p:cNvSpPr/>
          <p:nvPr/>
        </p:nvSpPr>
        <p:spPr>
          <a:xfrm>
            <a:off x="612648" y="1572768"/>
            <a:ext cx="10966399" cy="15544"/>
          </a:xfrm>
          <a:prstGeom prst="rect">
            <a:avLst/>
          </a:prstGeom>
          <a:solidFill>
            <a:srgbClr val="223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11030407" y="638251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6A8BA"/>
                </a:solidFill>
                <a:latin typeface="Arial"/>
              </a:rPr>
              <a:t>03</a:t>
            </a:r>
          </a:p>
        </p:txBody>
      </p:sp>
      <p:pic>
        <p:nvPicPr>
          <p:cNvPr id="6" name="Picture 5" descr="encoding_ba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" y="1797263"/>
            <a:ext cx="5577840" cy="394927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56248" y="1828800"/>
            <a:ext cx="50227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Arial"/>
              </a:rPr>
              <a:t>Classical enumeration first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56248" y="2084832"/>
            <a:ext cx="5022799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>
                <a:solidFill>
                  <a:srgbClr val="CBD6E2"/>
                </a:solidFill>
                <a:latin typeface="Arial"/>
              </a:rPr>
              <a:t>Yen's algorithm across four metrics — delay, cost, hops, spare capacity — proposes a shortlist of link-disjoint routes per demand. Validated against networkx on 900 PoP pairs, zero mismatches.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56248" y="2852928"/>
            <a:ext cx="50227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Arial"/>
              </a:rPr>
              <a:t>Qubits track decisions, not wires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56248" y="3108960"/>
            <a:ext cx="5022799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>
                <a:solidFill>
                  <a:srgbClr val="CBD6E2"/>
                </a:solidFill>
                <a:latin typeface="Arial"/>
              </a:rPr>
              <a:t>N = Σ|P_k| = demands × routes. It does not grow with the 36 directed links, so the same circuit width covers a much larger network.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56248" y="3877056"/>
            <a:ext cx="50227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Arial"/>
              </a:rPr>
              <a:t>Penalty degree stays quadratic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56248" y="4133088"/>
            <a:ext cx="5022799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>
                <a:solidFill>
                  <a:srgbClr val="CBD6E2"/>
                </a:solidFill>
                <a:latin typeface="Arial"/>
              </a:rPr>
              <a:t>The demand-edge encoding needs a degree-D capacity penalty (cubic at three demands) and per-node flow conservation. One-hot over routes needs neither.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56248" y="4901184"/>
            <a:ext cx="50227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Arial"/>
              </a:rPr>
              <a:t>The trade, stated plainly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6248" y="5157216"/>
            <a:ext cx="5022799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>
                <a:solidFill>
                  <a:srgbClr val="CBD6E2"/>
                </a:solidFill>
                <a:latin typeface="Arial"/>
              </a:rPr>
              <a:t>Solution quality is capped by the candidate sets. That is the hybrid split we chose deliberately.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0B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384048"/>
            <a:ext cx="109663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82E0F0"/>
                </a:solidFill>
                <a:latin typeface="Arial"/>
              </a:rPr>
              <a:t>THE FORMULATION PROBLEM WE HAD TO SOLVE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676656"/>
            <a:ext cx="1096639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>
                <a:solidFill>
                  <a:srgbClr val="FFFFFF"/>
                </a:solidFill>
                <a:latin typeface="Arial"/>
              </a:rPr>
              <a:t>Fitting Fortz–Thorup per link keeps the capacity cliff</a:t>
            </a:r>
          </a:p>
        </p:txBody>
      </p:sp>
      <p:sp>
        <p:nvSpPr>
          <p:cNvPr id="4" name="Rectangle 3"/>
          <p:cNvSpPr/>
          <p:nvPr/>
        </p:nvSpPr>
        <p:spPr>
          <a:xfrm>
            <a:off x="612648" y="1572768"/>
            <a:ext cx="10966399" cy="15544"/>
          </a:xfrm>
          <a:prstGeom prst="rect">
            <a:avLst/>
          </a:prstGeom>
          <a:solidFill>
            <a:srgbClr val="223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11030407" y="638251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6A8BA"/>
                </a:solidFill>
                <a:latin typeface="Arial"/>
              </a:rPr>
              <a:t>04</a:t>
            </a:r>
          </a:p>
        </p:txBody>
      </p:sp>
      <p:pic>
        <p:nvPicPr>
          <p:cNvPr id="6" name="Picture 5" descr="ft_cu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" y="1833472"/>
            <a:ext cx="5669280" cy="401401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647688" y="1828800"/>
            <a:ext cx="493135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Arial"/>
              </a:rPr>
              <a:t>Capacity is a cliff, not a slope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47688" y="2084832"/>
            <a:ext cx="4931359" cy="10241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>
                <a:solidFill>
                  <a:srgbClr val="CBD6E2"/>
                </a:solidFill>
                <a:latin typeface="Arial"/>
              </a:rPr>
              <a:t>Fortz &amp; Thorup's cost per link steps through slopes 1, 3, 10, 70, 500, 5000. Below a third of capacity it is nearly free; past capacity it is catastrophic.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47688" y="3127248"/>
            <a:ext cx="493135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Arial"/>
              </a:rPr>
              <a:t>One global quadratic flattens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47688" y="3383280"/>
            <a:ext cx="4931359" cy="10241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>
                <a:solidFill>
                  <a:srgbClr val="CBD6E2"/>
                </a:solidFill>
                <a:latin typeface="Arial"/>
              </a:rPr>
              <a:t>Fitted over all utilizations it becomes 16.7·u² — which minimizes total squared load, not peak load. On this instance its optimum leaves the hot link at 105% and never clears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47688" y="4425696"/>
            <a:ext cx="493135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Arial"/>
              </a:rPr>
              <a:t>Per-link local fits keep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47688" y="4681728"/>
            <a:ext cx="4931359" cy="10241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>
                <a:solidFill>
                  <a:srgbClr val="CBD6E2"/>
                </a:solidFill>
                <a:latin typeface="Arial"/>
              </a:rPr>
              <a:t>H already carries a per-link linear term and u_e is linear in x, so fitting each link over the load band it can actually reach stays a QUBO — no slack qubits — and restores the cliff.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47688" y="5760720"/>
            <a:ext cx="493135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96A8BA"/>
                </a:solidFill>
                <a:latin typeface="Arial"/>
              </a:rPr>
              <a:t>Bounds come from the candidate sets, never from a solution.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0B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384048"/>
            <a:ext cx="109663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82E0F0"/>
                </a:solidFill>
                <a:latin typeface="Arial"/>
              </a:rPr>
              <a:t>THE RESULT ON THE REAL INSTANCE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676656"/>
            <a:ext cx="1096639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>
                <a:solidFill>
                  <a:srgbClr val="FFFFFF"/>
                </a:solidFill>
                <a:latin typeface="Arial"/>
              </a:rPr>
              <a:t>105% → 90% peak, zero violations, on the real backbone</a:t>
            </a:r>
          </a:p>
        </p:txBody>
      </p:sp>
      <p:sp>
        <p:nvSpPr>
          <p:cNvPr id="4" name="Rectangle 3"/>
          <p:cNvSpPr/>
          <p:nvPr/>
        </p:nvSpPr>
        <p:spPr>
          <a:xfrm>
            <a:off x="612648" y="1572768"/>
            <a:ext cx="10966399" cy="15544"/>
          </a:xfrm>
          <a:prstGeom prst="rect">
            <a:avLst/>
          </a:prstGeom>
          <a:solidFill>
            <a:srgbClr val="223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11030407" y="638251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6A8BA"/>
                </a:solidFill>
                <a:latin typeface="Arial"/>
              </a:rPr>
              <a:t>05</a:t>
            </a:r>
          </a:p>
        </p:txBody>
      </p:sp>
      <p:pic>
        <p:nvPicPr>
          <p:cNvPr id="6" name="Picture 5" descr="hero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8560" y="1737360"/>
            <a:ext cx="9014573" cy="35204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12648" y="5440680"/>
            <a:ext cx="255871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300" b="1">
                <a:solidFill>
                  <a:srgbClr val="82E0F0"/>
                </a:solidFill>
                <a:latin typeface="Arial"/>
              </a:rPr>
              <a:t>105% → 90%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" y="5897880"/>
            <a:ext cx="255871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96A8BA"/>
                </a:solidFill>
                <a:latin typeface="Arial"/>
              </a:rPr>
              <a:t>peak utilization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54247" y="5440680"/>
            <a:ext cx="255871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300" b="1">
                <a:solidFill>
                  <a:srgbClr val="82E0F0"/>
                </a:solidFill>
                <a:latin typeface="Arial"/>
              </a:rPr>
              <a:t>1 → 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54247" y="5897880"/>
            <a:ext cx="255871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96A8BA"/>
                </a:solidFill>
                <a:latin typeface="Arial"/>
              </a:rPr>
              <a:t>links over capacity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5847" y="5440680"/>
            <a:ext cx="255871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300" b="1">
                <a:solidFill>
                  <a:srgbClr val="82E0F0"/>
                </a:solidFill>
                <a:latin typeface="Arial"/>
              </a:rPr>
              <a:t>5.84 → 2.03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95847" y="5897880"/>
            <a:ext cx="255871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96A8BA"/>
                </a:solidFill>
                <a:latin typeface="Arial"/>
              </a:rPr>
              <a:t>Fortz–Thorup Φ*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37447" y="5440680"/>
            <a:ext cx="255871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300" b="1">
                <a:solidFill>
                  <a:srgbClr val="82E0F0"/>
                </a:solidFill>
                <a:latin typeface="Arial"/>
              </a:rPr>
              <a:t>16,384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37447" y="5897880"/>
            <a:ext cx="255871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96A8BA"/>
                </a:solidFill>
                <a:latin typeface="Arial"/>
              </a:rPr>
              <a:t>assignments searched exactly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2648" y="6355080"/>
            <a:ext cx="1096639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96A8BA"/>
                </a:solidFill>
                <a:latin typeface="Arial"/>
              </a:rPr>
              <a:t>Same candidate routes, same exact solver — the gain comes from the objective, not from the quantum step.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0B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384048"/>
            <a:ext cx="109663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82E0F0"/>
                </a:solidFill>
                <a:latin typeface="Arial"/>
              </a:rPr>
              <a:t>THE QUANTUM STEP, CHECKED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676656"/>
            <a:ext cx="1096639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>
                <a:solidFill>
                  <a:srgbClr val="FFFFFF"/>
                </a:solidFill>
                <a:latin typeface="Arial"/>
              </a:rPr>
              <a:t>QAOA returns the optimum where we can verify it</a:t>
            </a:r>
          </a:p>
        </p:txBody>
      </p:sp>
      <p:sp>
        <p:nvSpPr>
          <p:cNvPr id="4" name="Rectangle 3"/>
          <p:cNvSpPr/>
          <p:nvPr/>
        </p:nvSpPr>
        <p:spPr>
          <a:xfrm>
            <a:off x="612648" y="1572768"/>
            <a:ext cx="10966399" cy="15544"/>
          </a:xfrm>
          <a:prstGeom prst="rect">
            <a:avLst/>
          </a:prstGeom>
          <a:solidFill>
            <a:srgbClr val="223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11030407" y="638251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6A8BA"/>
                </a:solidFill>
                <a:latin typeface="Arial"/>
              </a:rPr>
              <a:t>06</a:t>
            </a:r>
          </a:p>
        </p:txBody>
      </p:sp>
      <p:pic>
        <p:nvPicPr>
          <p:cNvPr id="6" name="Picture 5" descr="convergence_to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761" y="1828800"/>
            <a:ext cx="5534492" cy="32004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739128" y="1828800"/>
            <a:ext cx="4839919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82E0F0"/>
                </a:solidFill>
                <a:latin typeface="Arial"/>
              </a:rPr>
              <a:t>57%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39128" y="2432304"/>
            <a:ext cx="483991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96A8BA"/>
                </a:solidFill>
                <a:latin typeface="Arial"/>
              </a:rPr>
              <a:t>of sampled probability lands on feasible states, against 5.3% for uniform sampling (11×)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39128" y="3246120"/>
            <a:ext cx="4839919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82E0F0"/>
                </a:solidFill>
                <a:latin typeface="Arial"/>
              </a:rPr>
              <a:t>7e-08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39128" y="3849624"/>
            <a:ext cx="483991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96A8BA"/>
                </a:solidFill>
                <a:latin typeface="Arial"/>
              </a:rPr>
              <a:t>cost gap to the exhaustively verified optimum over all 27 assignments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39128" y="4663440"/>
            <a:ext cx="4839919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>
                <a:solidFill>
                  <a:srgbClr val="96A8BA"/>
                </a:solidFill>
                <a:latin typeface="Arial"/>
              </a:rPr>
              <a:t>9 qubits · 3 layers · depth 101 · 144 two-qubit gates</a:t>
            </a:r>
          </a:p>
          <a:p>
            <a:pPr algn="l">
              <a:lnSpc>
                <a:spcPct val="135000"/>
              </a:lnSpc>
            </a:pPr>
            <a:r>
              <a:rPr sz="1200" b="0">
                <a:solidFill>
                  <a:srgbClr val="96A8BA"/>
                </a:solidFill>
                <a:latin typeface="Arial"/>
              </a:rPr>
              <a:t>CVaR at q=0.5 (Barkoutsos et al.) · COBYLA · 2048 shots · seed 42 · Classiq simulator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" y="5852160"/>
            <a:ext cx="57607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96A8BA"/>
                </a:solidFill>
                <a:latin typeface="Arial"/>
              </a:rPr>
              <a:t>Deliberately small: nine qubits is where every quantum claim can be checked against exact ground truth. We claim no speedup.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0B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384048"/>
            <a:ext cx="109663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82E0F0"/>
                </a:solidFill>
                <a:latin typeface="Arial"/>
              </a:rPr>
              <a:t>WHERE IT STOPS, MEASURED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676656"/>
            <a:ext cx="1096639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>
                <a:solidFill>
                  <a:srgbClr val="FFFFFF"/>
                </a:solidFill>
                <a:latin typeface="Arial"/>
              </a:rPr>
              <a:t>At 28 qubits the wall is feasibility, not the circuit</a:t>
            </a:r>
          </a:p>
        </p:txBody>
      </p:sp>
      <p:sp>
        <p:nvSpPr>
          <p:cNvPr id="4" name="Rectangle 3"/>
          <p:cNvSpPr/>
          <p:nvPr/>
        </p:nvSpPr>
        <p:spPr>
          <a:xfrm>
            <a:off x="612648" y="1572768"/>
            <a:ext cx="10966399" cy="15544"/>
          </a:xfrm>
          <a:prstGeom prst="rect">
            <a:avLst/>
          </a:prstGeom>
          <a:solidFill>
            <a:srgbClr val="223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11030407" y="638251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6A8BA"/>
                </a:solidFill>
                <a:latin typeface="Arial"/>
              </a:rPr>
              <a:t>07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2648" y="1828800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Arial"/>
              </a:rPr>
              <a:t>The pipeline runs end to end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2648" y="2084832"/>
            <a:ext cx="594360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>
                <a:solidFill>
                  <a:srgbClr val="CBD6E2"/>
                </a:solidFill>
                <a:latin typeface="Arial"/>
              </a:rPr>
              <a:t>28 qubits synthesized on Classiq to depth 75 with 150 two-qubit gates, executed on the simulator. The CVaR of sampled H falls by 18.5 (-20.3 to -38.7; the per-link fit drops constant terms, so H is not positive), meaning the optimizer is learning.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" y="3154680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Arial"/>
              </a:rPr>
              <a:t>No feasible sample came back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" y="3410712"/>
            <a:ext cx="594360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>
                <a:solidFill>
                  <a:srgbClr val="CBD6E2"/>
                </a:solidFill>
                <a:latin typeface="Arial"/>
              </a:rPr>
              <a:t>With 14 demands choosing between two routes, the one-hot subspace is 2^14 of 2^28 states — 0.006% of the Hilbert space. A depth-1 X mixer spreads amplitude across all of it.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2648" y="4480560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Arial"/>
              </a:rPr>
              <a:t>The fix is known, not hand-waving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2648" y="4736592"/>
            <a:ext cx="594360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>
                <a:solidFill>
                  <a:srgbClr val="CBD6E2"/>
                </a:solidFill>
                <a:latin typeface="Arial"/>
              </a:rPr>
              <a:t>An XY mixer confines evolution to the feasible subspace by construction; a binary encoding needs log2(K) qubits per demand, rounded up, and removes one-hot entirely. Both drop into one function of qaoa.py.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922008" y="1828800"/>
            <a:ext cx="4657039" cy="3200400"/>
          </a:xfrm>
          <a:prstGeom prst="rect">
            <a:avLst/>
          </a:prstGeom>
          <a:solidFill>
            <a:srgbClr val="0B1526"/>
          </a:solidFill>
          <a:ln w="12700">
            <a:solidFill>
              <a:srgbClr val="223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7196328" y="2057400"/>
            <a:ext cx="41083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5A623"/>
                </a:solidFill>
                <a:latin typeface="Arial"/>
              </a:rPr>
              <a:t>WHAT WE WILL NOT CLAIM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96328" y="2468880"/>
            <a:ext cx="4108399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CBD6E2"/>
                </a:solidFill>
                <a:latin typeface="Arial"/>
              </a:rPr>
              <a:t>• A quantum speedup. At these sizes exact classical search wins, and we say so.</a:t>
            </a:r>
          </a:p>
          <a:p>
            <a:pPr algn="l">
              <a:lnSpc>
                <a:spcPct val="130000"/>
              </a:lnSpc>
            </a:pPr>
            <a:r>
              <a:rPr sz="1300" b="0">
                <a:solidFill>
                  <a:srgbClr val="CBD6E2"/>
                </a:solidFill>
                <a:latin typeface="Arial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1300" b="0">
                <a:solidFill>
                  <a:srgbClr val="CBD6E2"/>
                </a:solidFill>
                <a:latin typeface="Arial"/>
              </a:rPr>
              <a:t>• A quantum result on the 28-qubit instance. The clean routing there is classical, from exhaustive search over the same QUBO.</a:t>
            </a:r>
          </a:p>
          <a:p>
            <a:pPr algn="l">
              <a:lnSpc>
                <a:spcPct val="130000"/>
              </a:lnSpc>
            </a:pPr>
            <a:r>
              <a:rPr sz="1300" b="0">
                <a:solidFill>
                  <a:srgbClr val="CBD6E2"/>
                </a:solidFill>
                <a:latin typeface="Arial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1300" b="0">
                <a:solidFill>
                  <a:srgbClr val="CBD6E2"/>
                </a:solidFill>
                <a:latin typeface="Arial"/>
              </a:rPr>
              <a:t>• That the congestion win is quantum. It comes from the objective, solved by brute force.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2648" y="5989320"/>
            <a:ext cx="1096639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96A8BA"/>
                </a:solidFill>
                <a:latin typeface="Arial"/>
              </a:rPr>
              <a:t>Reporting the boundary is the point: it is what tells you which mixer to build next.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0B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384048"/>
            <a:ext cx="109663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82E0F0"/>
                </a:solidFill>
                <a:latin typeface="Arial"/>
              </a:rPr>
              <a:t>HOW IT IS BUILT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676656"/>
            <a:ext cx="1096639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>
                <a:solidFill>
                  <a:srgbClr val="FFFFFF"/>
                </a:solidFill>
                <a:latin typeface="Arial"/>
              </a:rPr>
              <a:t>One cost function: circuit, brute force, decoder</a:t>
            </a:r>
          </a:p>
        </p:txBody>
      </p:sp>
      <p:sp>
        <p:nvSpPr>
          <p:cNvPr id="4" name="Rectangle 3"/>
          <p:cNvSpPr/>
          <p:nvPr/>
        </p:nvSpPr>
        <p:spPr>
          <a:xfrm>
            <a:off x="612648" y="1572768"/>
            <a:ext cx="10966399" cy="15544"/>
          </a:xfrm>
          <a:prstGeom prst="rect">
            <a:avLst/>
          </a:prstGeom>
          <a:solidFill>
            <a:srgbClr val="223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11030407" y="638251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6A8BA"/>
                </a:solidFill>
                <a:latin typeface="Arial"/>
              </a:rPr>
              <a:t>08</a:t>
            </a:r>
          </a:p>
        </p:txBody>
      </p:sp>
      <p:sp>
        <p:nvSpPr>
          <p:cNvPr id="6" name="Rectangle 5"/>
          <p:cNvSpPr/>
          <p:nvPr/>
        </p:nvSpPr>
        <p:spPr>
          <a:xfrm>
            <a:off x="612648" y="1828800"/>
            <a:ext cx="5120640" cy="2286000"/>
          </a:xfrm>
          <a:prstGeom prst="rect">
            <a:avLst/>
          </a:prstGeom>
          <a:solidFill>
            <a:srgbClr val="0B1526"/>
          </a:solidFill>
          <a:ln w="12700">
            <a:solidFill>
              <a:srgbClr val="223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68680" y="2048256"/>
            <a:ext cx="4663440" cy="1920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C7EFF8"/>
                </a:solidFill>
                <a:latin typeface="Arial"/>
              </a:rPr>
              <a:t>@qfunc</a:t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C7EFF8"/>
                </a:solidFill>
                <a:latin typeface="Arial"/>
              </a:rPr>
              <a:t>def main(params, x):</a:t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C7EFF8"/>
                </a:solidFill>
                <a:latin typeface="Arial"/>
              </a:rPr>
              <a:t>    allocate(x)</a:t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C7EFF8"/>
                </a:solidFill>
                <a:latin typeface="Arial"/>
              </a:rPr>
              <a:t>    hadamard_transform(x)</a:t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C7EFF8"/>
                </a:solidFill>
                <a:latin typeface="Arial"/>
              </a:rPr>
              <a:t>    repeat(num_layers, lambda i: (</a:t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C7EFF8"/>
                </a:solidFill>
                <a:latin typeface="Arial"/>
              </a:rPr>
              <a:t>        phase(cost_fn(x), params[2*i]),</a:t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C7EFF8"/>
                </a:solidFill>
                <a:latin typeface="Arial"/>
              </a:rPr>
              <a:t>        mixer_layer(params[2*i+1], x),</a:t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C7EFF8"/>
                </a:solidFill>
                <a:latin typeface="Arial"/>
              </a:rPr>
              <a:t>    ))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" y="4251960"/>
            <a:ext cx="51206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CBD6E2"/>
                </a:solidFill>
                <a:latin typeface="Arial"/>
              </a:rPr>
              <a:t>Classiq's phase() compiles the same Python cost function that brute force minimizes and the decoder scores samples with — so the Hamiltonian and the classical objective cannot drift apart.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90488" y="1828800"/>
            <a:ext cx="538855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Arial"/>
              </a:rPr>
              <a:t>QAOA proposes, classical validation selects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90488" y="2084832"/>
            <a:ext cx="5388559" cy="10241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>
                <a:solidFill>
                  <a:srgbClr val="CBD6E2"/>
                </a:solidFill>
                <a:latin typeface="Arial"/>
              </a:rPr>
              <a:t>The decoder gates every sample on one-hot feasibility and capacity before any KPI comparison, then returns the best feasible routing. Nothing infeasible can leave the pipeline.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90488" y="3127248"/>
            <a:ext cx="538855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Arial"/>
              </a:rPr>
              <a:t>49 tests, one of them exhaustive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90488" y="3383280"/>
            <a:ext cx="5388559" cy="10241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>
                <a:solidFill>
                  <a:srgbClr val="CBD6E2"/>
                </a:solidFill>
                <a:latin typeface="Arial"/>
              </a:rPr>
              <a:t>Including a bitstring-by-bitstring check of the cost polynomial against an independent implementation on a four-qubit instance.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90488" y="4425696"/>
            <a:ext cx="538855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Arial"/>
              </a:rPr>
              <a:t>Only qaoa.py imports classiq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90488" y="4681728"/>
            <a:ext cx="5388559" cy="10241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>
                <a:solidFill>
                  <a:srgbClr val="CBD6E2"/>
                </a:solidFill>
                <a:latin typeface="Arial"/>
              </a:rPr>
              <a:t>Model, QUBO, decoding and plotting stay pure Python, so the solver is swappable — MILP or QPU — without touching the formulation.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0B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685800"/>
            <a:ext cx="109663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82E0F0"/>
                </a:solidFill>
                <a:latin typeface="Arial"/>
              </a:rPr>
              <a:t>THE ONE SENTENCE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1143000"/>
            <a:ext cx="10966399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3300" b="1">
                <a:solidFill>
                  <a:srgbClr val="FFFFFF"/>
                </a:solidFill>
                <a:latin typeface="Arial"/>
              </a:rPr>
              <a:t>We priced AT&amp;T's own congestion cost into 28 qubits —</a:t>
            </a:r>
          </a:p>
          <a:p>
            <a:pPr algn="l">
              <a:lnSpc>
                <a:spcPct val="118000"/>
              </a:lnSpc>
            </a:pPr>
            <a:r>
              <a:rPr sz="3300" b="1">
                <a:solidFill>
                  <a:srgbClr val="FFFFFF"/>
                </a:solidFill>
                <a:latin typeface="Arial"/>
              </a:rPr>
              <a:t>a textbook encoding needs 504 — and checked every</a:t>
            </a:r>
          </a:p>
          <a:p>
            <a:pPr algn="l">
              <a:lnSpc>
                <a:spcPct val="118000"/>
              </a:lnSpc>
            </a:pPr>
            <a:r>
              <a:rPr sz="3300" b="1">
                <a:solidFill>
                  <a:srgbClr val="FFFFFF"/>
                </a:solidFill>
                <a:latin typeface="Arial"/>
              </a:rPr>
              <a:t>answer against exact ground truth.</a:t>
            </a:r>
          </a:p>
        </p:txBody>
      </p:sp>
      <p:sp>
        <p:nvSpPr>
          <p:cNvPr id="4" name="Rectangle 3"/>
          <p:cNvSpPr/>
          <p:nvPr/>
        </p:nvSpPr>
        <p:spPr>
          <a:xfrm>
            <a:off x="612648" y="3794760"/>
            <a:ext cx="1927555" cy="457200"/>
          </a:xfrm>
          <a:prstGeom prst="rect">
            <a:avLst/>
          </a:prstGeom>
          <a:solidFill>
            <a:srgbClr val="0B1526"/>
          </a:solidFill>
          <a:ln w="12700">
            <a:solidFill>
              <a:srgbClr val="223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86384" y="3913632"/>
            <a:ext cx="158008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82E0F0"/>
                </a:solidFill>
                <a:latin typeface="Arial"/>
              </a:rPr>
              <a:t>28 vs 504 qubits</a:t>
            </a:r>
          </a:p>
        </p:txBody>
      </p:sp>
      <p:sp>
        <p:nvSpPr>
          <p:cNvPr id="6" name="Rectangle 5"/>
          <p:cNvSpPr/>
          <p:nvPr/>
        </p:nvSpPr>
        <p:spPr>
          <a:xfrm>
            <a:off x="2686507" y="3794760"/>
            <a:ext cx="1828800" cy="457200"/>
          </a:xfrm>
          <a:prstGeom prst="rect">
            <a:avLst/>
          </a:prstGeom>
          <a:solidFill>
            <a:srgbClr val="0B1526"/>
          </a:solidFill>
          <a:ln w="12700">
            <a:solidFill>
              <a:srgbClr val="223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2860243" y="3913632"/>
            <a:ext cx="14813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82E0F0"/>
                </a:solidFill>
                <a:latin typeface="Arial"/>
              </a:rPr>
              <a:t>peak 105% → 90%</a:t>
            </a:r>
          </a:p>
        </p:txBody>
      </p:sp>
      <p:sp>
        <p:nvSpPr>
          <p:cNvPr id="8" name="Rectangle 7"/>
          <p:cNvSpPr/>
          <p:nvPr/>
        </p:nvSpPr>
        <p:spPr>
          <a:xfrm>
            <a:off x="4661611" y="3794760"/>
            <a:ext cx="2816352" cy="457200"/>
          </a:xfrm>
          <a:prstGeom prst="rect">
            <a:avLst/>
          </a:prstGeom>
          <a:solidFill>
            <a:srgbClr val="0B1526"/>
          </a:solidFill>
          <a:ln w="12700">
            <a:solidFill>
              <a:srgbClr val="223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4835347" y="3913632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82E0F0"/>
                </a:solidFill>
                <a:latin typeface="Arial"/>
              </a:rPr>
              <a:t>1 → 0 links over capacity</a:t>
            </a:r>
          </a:p>
        </p:txBody>
      </p:sp>
      <p:sp>
        <p:nvSpPr>
          <p:cNvPr id="10" name="Rectangle 9"/>
          <p:cNvSpPr/>
          <p:nvPr/>
        </p:nvSpPr>
        <p:spPr>
          <a:xfrm>
            <a:off x="7624267" y="3794760"/>
            <a:ext cx="1532534" cy="457200"/>
          </a:xfrm>
          <a:prstGeom prst="rect">
            <a:avLst/>
          </a:prstGeom>
          <a:solidFill>
            <a:srgbClr val="0B1526"/>
          </a:solidFill>
          <a:ln w="12700">
            <a:solidFill>
              <a:srgbClr val="223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7798003" y="3913632"/>
            <a:ext cx="118506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82E0F0"/>
                </a:solidFill>
                <a:latin typeface="Arial"/>
              </a:rPr>
              <a:t>Φ* 5.8 → 2.0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2648" y="4361688"/>
            <a:ext cx="3606393" cy="457200"/>
          </a:xfrm>
          <a:prstGeom prst="rect">
            <a:avLst/>
          </a:prstGeom>
          <a:solidFill>
            <a:srgbClr val="0B1526"/>
          </a:solidFill>
          <a:ln w="12700">
            <a:solidFill>
              <a:srgbClr val="223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786384" y="4480560"/>
            <a:ext cx="325892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82E0F0"/>
                </a:solidFill>
                <a:latin typeface="Arial"/>
              </a:rPr>
              <a:t>feasible mass 57% vs 5.3% uniform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65345" y="4361688"/>
            <a:ext cx="3211372" cy="457200"/>
          </a:xfrm>
          <a:prstGeom prst="rect">
            <a:avLst/>
          </a:prstGeom>
          <a:solidFill>
            <a:srgbClr val="0B1526"/>
          </a:solidFill>
          <a:ln w="12700">
            <a:solidFill>
              <a:srgbClr val="223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4539081" y="4480560"/>
            <a:ext cx="28639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82E0F0"/>
                </a:solidFill>
                <a:latin typeface="Arial"/>
              </a:rPr>
              <a:t>0 gap to the verified optimum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23022" y="4361688"/>
            <a:ext cx="1137513" cy="457200"/>
          </a:xfrm>
          <a:prstGeom prst="rect">
            <a:avLst/>
          </a:prstGeom>
          <a:solidFill>
            <a:srgbClr val="0B1526"/>
          </a:solidFill>
          <a:ln w="12700">
            <a:solidFill>
              <a:srgbClr val="223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7896758" y="4480560"/>
            <a:ext cx="79004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82E0F0"/>
                </a:solidFill>
                <a:latin typeface="Arial"/>
              </a:rPr>
              <a:t>49 tests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" y="5650992"/>
            <a:ext cx="10966399" cy="15544"/>
          </a:xfrm>
          <a:prstGeom prst="rect">
            <a:avLst/>
          </a:prstGeom>
          <a:solidFill>
            <a:srgbClr val="223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612648" y="5797296"/>
            <a:ext cx="1096639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96A8BA"/>
                </a:solidFill>
                <a:latin typeface="Arial"/>
              </a:rPr>
              <a:t>Next:  XY mixer for feasible-subspace evolution  ·  MILP baseline  ·  Fortz–Thorup LP bound  ·  QPU run</a:t>
            </a:r>
          </a:p>
        </p:txBody>
      </p:sp>
      <p:pic>
        <p:nvPicPr>
          <p:cNvPr id="20" name="Picture 19" descr="logo_qub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41687" y="566928"/>
            <a:ext cx="1737360" cy="579120"/>
          </a:xfrm>
          <a:prstGeom prst="rect">
            <a:avLst/>
          </a:prstGeom>
        </p:spPr>
      </p:pic>
      <p:pic>
        <p:nvPicPr>
          <p:cNvPr id="21" name="Picture 20" descr="sponsors_r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81528" y="6263640"/>
            <a:ext cx="6035040" cy="537552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0B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2834640"/>
            <a:ext cx="10966399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400" b="1">
                <a:solidFill>
                  <a:srgbClr val="25404E"/>
                </a:solidFill>
                <a:latin typeface="Arial"/>
              </a:rPr>
              <a:t>BACKUP</a:t>
            </a:r>
          </a:p>
        </p:txBody>
      </p:sp>
      <p:sp>
        <p:nvSpPr>
          <p:cNvPr id="3" name="Rectangle 2"/>
          <p:cNvSpPr/>
          <p:nvPr/>
        </p:nvSpPr>
        <p:spPr>
          <a:xfrm>
            <a:off x="612648" y="3931920"/>
            <a:ext cx="10966399" cy="15544"/>
          </a:xfrm>
          <a:prstGeom prst="rect">
            <a:avLst/>
          </a:prstGeom>
          <a:solidFill>
            <a:srgbClr val="223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12648" y="4114800"/>
            <a:ext cx="1096639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96A8BA"/>
                </a:solidFill>
                <a:latin typeface="Arial"/>
              </a:rPr>
              <a:t>Everything that did not earn a place in five minutes.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0B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384048"/>
            <a:ext cx="109663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82E0F0"/>
                </a:solidFill>
                <a:latin typeface="Arial"/>
              </a:rPr>
              <a:t>BACKUP · INSTANCE CALIBRATION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676656"/>
            <a:ext cx="1096639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>
                <a:solidFill>
                  <a:srgbClr val="FFFFFF"/>
                </a:solidFill>
                <a:latin typeface="Arial"/>
              </a:rPr>
              <a:t>An unroutable instance is a capacity result, not an optimization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612648" y="1572768"/>
            <a:ext cx="10966399" cy="15544"/>
          </a:xfrm>
          <a:prstGeom prst="rect">
            <a:avLst/>
          </a:prstGeom>
          <a:solidFill>
            <a:srgbClr val="223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12648" y="1920240"/>
            <a:ext cx="1600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96A8BA"/>
                </a:solidFill>
                <a:latin typeface="Arial"/>
              </a:rPr>
              <a:t>INSTANCE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350008" y="1920240"/>
            <a:ext cx="960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96A8BA"/>
                </a:solidFill>
                <a:latin typeface="Arial"/>
              </a:rPr>
              <a:t>DEMANDS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47287" y="1920240"/>
            <a:ext cx="1874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96A8BA"/>
                </a:solidFill>
                <a:latin typeface="Arial"/>
              </a:rPr>
              <a:t>TODAY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58968" y="1920240"/>
            <a:ext cx="2057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96A8BA"/>
                </a:solidFill>
                <a:latin typeface="Arial"/>
              </a:rPr>
              <a:t>BEST ACHIEVABLE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53527" y="1920240"/>
            <a:ext cx="379475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96A8BA"/>
                </a:solidFill>
                <a:latin typeface="Arial"/>
              </a:rPr>
              <a:t>VERDICT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2648" y="2267712"/>
            <a:ext cx="10966399" cy="12801"/>
          </a:xfrm>
          <a:prstGeom prst="rect">
            <a:avLst/>
          </a:prstGeom>
          <a:solidFill>
            <a:srgbClr val="223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12648" y="2395728"/>
            <a:ext cx="1600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CBD6E2"/>
                </a:solidFill>
                <a:latin typeface="Arial"/>
              </a:rPr>
              <a:t>east10_dense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50008" y="2395728"/>
            <a:ext cx="960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CBD6E2"/>
                </a:solidFill>
                <a:latin typeface="Arial"/>
              </a:rPr>
              <a:t>14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47287" y="2395728"/>
            <a:ext cx="1874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CBD6E2"/>
                </a:solidFill>
                <a:latin typeface="Arial"/>
              </a:rPr>
              <a:t>281% · 9 over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58968" y="2395728"/>
            <a:ext cx="2057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CBD6E2"/>
                </a:solidFill>
                <a:latin typeface="Arial"/>
              </a:rPr>
              <a:t>506% · 6 over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53527" y="2395728"/>
            <a:ext cx="379475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CBD6E2"/>
                </a:solidFill>
                <a:latin typeface="Arial"/>
              </a:rPr>
              <a:t>oversubscribed — no clean assignment exists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2648" y="2962656"/>
            <a:ext cx="1600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CBD6E2"/>
                </a:solidFill>
                <a:latin typeface="Arial"/>
              </a:rPr>
              <a:t>east10_tuned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50008" y="2962656"/>
            <a:ext cx="960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CBD6E2"/>
                </a:solidFill>
                <a:latin typeface="Arial"/>
              </a:rPr>
              <a:t>14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47287" y="2962656"/>
            <a:ext cx="1874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CBD6E2"/>
                </a:solidFill>
                <a:latin typeface="Arial"/>
              </a:rPr>
              <a:t>105% · 1 over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58968" y="2962656"/>
            <a:ext cx="2057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CBD6E2"/>
                </a:solidFill>
                <a:latin typeface="Arial"/>
              </a:rPr>
              <a:t>90% · 0 over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53527" y="2962656"/>
            <a:ext cx="379475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CBD6E2"/>
                </a:solidFill>
                <a:latin typeface="Arial"/>
              </a:rPr>
              <a:t>contested and solvable — 112 of 16,384 clean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2648" y="4114800"/>
            <a:ext cx="10966399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CBD6E2"/>
                </a:solidFill>
                <a:latin typeface="Arial"/>
              </a:rPr>
              <a:t>`fill` caps each demand at a fraction of the widest bottleneck open to it. At 0.9 any two demands sharing a link overload it however they are routed; at 0.3 they compete instead, and the optimizer has something to win. Both instances are the same 10 real PoPs.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0B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384048"/>
            <a:ext cx="109663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82E0F0"/>
                </a:solidFill>
                <a:latin typeface="Arial"/>
              </a:rPr>
              <a:t>BACKUP · THE VERIFIED INSTANCE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676656"/>
            <a:ext cx="1096639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>
                <a:solidFill>
                  <a:srgbClr val="FFFFFF"/>
                </a:solidFill>
                <a:latin typeface="Arial"/>
              </a:rPr>
              <a:t>Nine qubits, three demands, every answer checkable by hand</a:t>
            </a:r>
          </a:p>
        </p:txBody>
      </p:sp>
      <p:sp>
        <p:nvSpPr>
          <p:cNvPr id="4" name="Rectangle 3"/>
          <p:cNvSpPr/>
          <p:nvPr/>
        </p:nvSpPr>
        <p:spPr>
          <a:xfrm>
            <a:off x="612648" y="1572768"/>
            <a:ext cx="10966399" cy="15544"/>
          </a:xfrm>
          <a:prstGeom prst="rect">
            <a:avLst/>
          </a:prstGeom>
          <a:solidFill>
            <a:srgbClr val="223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Picture 4" descr="toy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5854" y="1783080"/>
            <a:ext cx="6999985" cy="3931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12648" y="5852160"/>
            <a:ext cx="1096639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96A8BA"/>
                </a:solidFill>
                <a:latin typeface="Arial"/>
              </a:rPr>
              <a:t>Both columns are decoded under one coefficient set and share a single utilization colour scale, so the panels are directly comparable. Priority π=3 on the premium demand is what makes it win the contested link.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